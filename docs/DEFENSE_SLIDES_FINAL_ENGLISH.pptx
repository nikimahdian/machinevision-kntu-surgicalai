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13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ABE056-DBFD-4085-8E25-23B642F0D1A3}" type="datetimeFigureOut">
              <a:rPr lang="en-CA" smtClean="0"/>
              <a:t>2026-08-07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56F70A-890C-43FC-A0F7-C7A1A65458E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35218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6F70A-890C-43FC-A0F7-C7A1A65458E1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783293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11480"/>
            <a:ext cx="1737360" cy="1645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664462"/>
            <a:ext cx="10268712" cy="9541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dirty="0">
                <a:solidFill>
                  <a:srgbClr val="F4F7FA"/>
                </a:solidFill>
                <a:latin typeface="Aptos"/>
              </a:rPr>
              <a:t>Surgical AI: Semantic Segmentation of Laparoscopic Images
and RGB Behavior Cloning for Robotic Tissue Retraction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53859"/>
            <a:ext cx="10360152" cy="3847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900" b="0" dirty="0">
                <a:solidFill>
                  <a:srgbClr val="2EC4B6"/>
                </a:solidFill>
                <a:latin typeface="Aptos"/>
              </a:rPr>
              <a:t>Final Course Project </a:t>
            </a:r>
            <a:r>
              <a:rPr lang="en-CA" sz="1900" b="0" dirty="0">
                <a:solidFill>
                  <a:srgbClr val="2EC4B6"/>
                </a:solidFill>
                <a:latin typeface="Aptos"/>
              </a:rPr>
              <a:t>– Computer vision</a:t>
            </a:r>
            <a:r>
              <a:rPr lang="en-CA" sz="1900" dirty="0">
                <a:solidFill>
                  <a:srgbClr val="2EC4B6"/>
                </a:solidFill>
                <a:latin typeface="Aptos"/>
              </a:rPr>
              <a:t> &amp;</a:t>
            </a:r>
            <a:r>
              <a:rPr sz="1900" b="0" dirty="0">
                <a:solidFill>
                  <a:srgbClr val="2EC4B6"/>
                </a:solidFill>
                <a:latin typeface="Aptos"/>
              </a:rPr>
              <a:t> Robotics, and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71945"/>
            <a:ext cx="10360152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dirty="0">
                <a:solidFill>
                  <a:srgbClr val="F4F7FA"/>
                </a:solidFill>
                <a:latin typeface="Aptos"/>
              </a:rPr>
              <a:t>Niki Mahdian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02832"/>
            <a:ext cx="10360152" cy="3539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 dirty="0">
                <a:solidFill>
                  <a:srgbClr val="A8B4C0"/>
                </a:solidFill>
                <a:latin typeface="Aptos"/>
              </a:rPr>
              <a:t>Student ID: 40123153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897880"/>
            <a:ext cx="1036015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dirty="0">
                <a:solidFill>
                  <a:srgbClr val="A8B4C0"/>
                </a:solidFill>
                <a:latin typeface="Aptos"/>
              </a:rPr>
              <a:t>K. N. </a:t>
            </a:r>
            <a:r>
              <a:rPr sz="1400" b="0" dirty="0" err="1">
                <a:solidFill>
                  <a:srgbClr val="A8B4C0"/>
                </a:solidFill>
                <a:latin typeface="Aptos"/>
              </a:rPr>
              <a:t>Toosi</a:t>
            </a:r>
            <a:r>
              <a:rPr sz="1400" b="0" dirty="0">
                <a:solidFill>
                  <a:srgbClr val="A8B4C0"/>
                </a:solidFill>
                <a:latin typeface="Aptos"/>
              </a:rPr>
              <a:t> University of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914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58A07"/>
                </a:solidFill>
                <a:latin typeface="Apto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82880"/>
            <a:ext cx="10332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1">
                <a:solidFill>
                  <a:srgbClr val="F4F7FA"/>
                </a:solidFill>
                <a:latin typeface="Aptos"/>
              </a:rPr>
              <a:t>Problem and Deliverables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713232"/>
            <a:ext cx="10332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A8B4C0"/>
                </a:solidFill>
                <a:latin typeface="Aptos"/>
              </a:rPr>
              <a:t>One project, two trained models, one surgical simulation task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5349240" cy="1965960"/>
          </a:xfrm>
          <a:prstGeom prst="roundRect">
            <a:avLst/>
          </a:prstGeom>
          <a:solidFill>
            <a:srgbClr val="14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04672" y="1490472"/>
            <a:ext cx="457200" cy="457200"/>
          </a:xfrm>
          <a:prstGeom prst="round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490472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B121A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8" y="1520690"/>
            <a:ext cx="4462272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 dirty="0">
                <a:solidFill>
                  <a:srgbClr val="2EC4B6"/>
                </a:solidFill>
                <a:latin typeface="Aptos"/>
              </a:rPr>
              <a:t>Model A </a:t>
            </a:r>
            <a:r>
              <a:rPr lang="en-CA" sz="1800" b="1" dirty="0">
                <a:solidFill>
                  <a:srgbClr val="2EC4B6"/>
                </a:solidFill>
                <a:latin typeface="Aptos"/>
              </a:rPr>
              <a:t>:</a:t>
            </a:r>
            <a:r>
              <a:rPr sz="1800" b="1" dirty="0">
                <a:solidFill>
                  <a:srgbClr val="2EC4B6"/>
                </a:solidFill>
                <a:latin typeface="Aptos"/>
              </a:rPr>
              <a:t> </a:t>
            </a:r>
            <a:r>
              <a:rPr lang="en-CA" sz="1800" b="1" dirty="0">
                <a:solidFill>
                  <a:srgbClr val="2EC4B6"/>
                </a:solidFill>
                <a:latin typeface="Aptos"/>
              </a:rPr>
              <a:t> </a:t>
            </a:r>
            <a:r>
              <a:rPr sz="1800" b="1" dirty="0">
                <a:solidFill>
                  <a:srgbClr val="2EC4B6"/>
                </a:solidFill>
                <a:latin typeface="Aptos"/>
              </a:rPr>
              <a:t>Semantic Segmentation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868959"/>
            <a:ext cx="4892040" cy="1353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400" dirty="0">
                <a:solidFill>
                  <a:srgbClr val="A8B4C0"/>
                </a:solidFill>
                <a:latin typeface="Aptos"/>
              </a:rPr>
              <a:t>Input</a:t>
            </a:r>
            <a:r>
              <a:rPr sz="1400" b="0" dirty="0">
                <a:solidFill>
                  <a:srgbClr val="A8B4C0"/>
                </a:solidFill>
                <a:latin typeface="Aptos"/>
              </a:rPr>
              <a:t>: real laparoscopic RGB frame
</a:t>
            </a:r>
            <a:r>
              <a:rPr sz="1400" dirty="0">
                <a:solidFill>
                  <a:srgbClr val="A8B4C0"/>
                </a:solidFill>
                <a:latin typeface="Aptos"/>
              </a:rPr>
              <a:t>Output</a:t>
            </a:r>
            <a:r>
              <a:rPr sz="1400" b="0" dirty="0">
                <a:solidFill>
                  <a:srgbClr val="A8B4C0"/>
                </a:solidFill>
                <a:latin typeface="Aptos"/>
              </a:rPr>
              <a:t>: 13-class semantic mask
</a:t>
            </a:r>
            <a:r>
              <a:rPr sz="1400" dirty="0">
                <a:solidFill>
                  <a:srgbClr val="A8B4C0"/>
                </a:solidFill>
                <a:latin typeface="Aptos"/>
              </a:rPr>
              <a:t>Dataset</a:t>
            </a:r>
            <a:r>
              <a:rPr sz="1400" b="0" dirty="0">
                <a:solidFill>
                  <a:srgbClr val="A8B4C0"/>
                </a:solidFill>
                <a:latin typeface="Aptos"/>
              </a:rPr>
              <a:t>: CholecSeg8k
</a:t>
            </a:r>
            <a:r>
              <a:rPr sz="1400" dirty="0">
                <a:solidFill>
                  <a:srgbClr val="A8B4C0"/>
                </a:solidFill>
                <a:latin typeface="Aptos"/>
              </a:rPr>
              <a:t>Model</a:t>
            </a:r>
            <a:r>
              <a:rPr sz="1400" b="0" dirty="0">
                <a:solidFill>
                  <a:srgbClr val="A8B4C0"/>
                </a:solidFill>
                <a:latin typeface="Aptos"/>
              </a:rPr>
              <a:t>: DeepLabV3+ / ResNet34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325880"/>
            <a:ext cx="5349240" cy="1965960"/>
          </a:xfrm>
          <a:prstGeom prst="roundRect">
            <a:avLst/>
          </a:prstGeom>
          <a:solidFill>
            <a:srgbClr val="14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364224" y="1490472"/>
            <a:ext cx="457200" cy="457200"/>
          </a:xfrm>
          <a:prstGeom prst="roundRect">
            <a:avLst/>
          </a:prstGeom>
          <a:solidFill>
            <a:srgbClr val="F58A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64224" y="1490472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B121A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1520690"/>
            <a:ext cx="4462272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 dirty="0">
                <a:solidFill>
                  <a:srgbClr val="F58A07"/>
                </a:solidFill>
                <a:latin typeface="Aptos"/>
              </a:rPr>
              <a:t>Model B </a:t>
            </a:r>
            <a:r>
              <a:rPr lang="en-CA" sz="1800" b="1" dirty="0">
                <a:solidFill>
                  <a:srgbClr val="F58A07"/>
                </a:solidFill>
                <a:latin typeface="Aptos"/>
              </a:rPr>
              <a:t>:</a:t>
            </a:r>
            <a:r>
              <a:rPr sz="1800" b="1" dirty="0">
                <a:solidFill>
                  <a:srgbClr val="F58A07"/>
                </a:solidFill>
                <a:latin typeface="Aptos"/>
              </a:rPr>
              <a:t> </a:t>
            </a:r>
            <a:r>
              <a:rPr lang="en-CA" sz="1800" b="1" dirty="0">
                <a:solidFill>
                  <a:srgbClr val="F58A07"/>
                </a:solidFill>
                <a:latin typeface="Aptos"/>
              </a:rPr>
              <a:t> </a:t>
            </a:r>
            <a:r>
              <a:rPr sz="1800" b="1" dirty="0">
                <a:solidFill>
                  <a:srgbClr val="F58A07"/>
                </a:solidFill>
                <a:latin typeface="Aptos"/>
              </a:rPr>
              <a:t>Learned Robotic 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1844637"/>
            <a:ext cx="4892040" cy="1353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400" dirty="0">
                <a:solidFill>
                  <a:srgbClr val="A8B4C0"/>
                </a:solidFill>
                <a:latin typeface="Aptos"/>
              </a:rPr>
              <a:t>Input</a:t>
            </a:r>
            <a:r>
              <a:rPr sz="1400" b="0" dirty="0">
                <a:solidFill>
                  <a:srgbClr val="A8B4C0"/>
                </a:solidFill>
                <a:latin typeface="Aptos"/>
              </a:rPr>
              <a:t>: simulator RGB frame only
</a:t>
            </a:r>
            <a:r>
              <a:rPr sz="1400" dirty="0">
                <a:solidFill>
                  <a:srgbClr val="A8B4C0"/>
                </a:solidFill>
                <a:latin typeface="Aptos"/>
              </a:rPr>
              <a:t>Output</a:t>
            </a:r>
            <a:r>
              <a:rPr sz="1400" b="0" dirty="0">
                <a:solidFill>
                  <a:srgbClr val="A8B4C0"/>
                </a:solidFill>
                <a:latin typeface="Aptos"/>
              </a:rPr>
              <a:t>: 3D Cartesian action
</a:t>
            </a:r>
            <a:r>
              <a:rPr sz="1400" dirty="0">
                <a:solidFill>
                  <a:srgbClr val="A8B4C0"/>
                </a:solidFill>
                <a:latin typeface="Aptos"/>
              </a:rPr>
              <a:t>Task</a:t>
            </a:r>
            <a:r>
              <a:rPr sz="1400" b="0" dirty="0">
                <a:solidFill>
                  <a:srgbClr val="A8B4C0"/>
                </a:solidFill>
                <a:latin typeface="Aptos"/>
              </a:rPr>
              <a:t>: </a:t>
            </a:r>
            <a:r>
              <a:rPr sz="1400" b="0" dirty="0" err="1">
                <a:solidFill>
                  <a:srgbClr val="A8B4C0"/>
                </a:solidFill>
                <a:latin typeface="Aptos"/>
              </a:rPr>
              <a:t>TissueRetraction</a:t>
            </a:r>
            <a:r>
              <a:rPr sz="1400" b="0" dirty="0">
                <a:solidFill>
                  <a:srgbClr val="A8B4C0"/>
                </a:solidFill>
                <a:latin typeface="Aptos"/>
              </a:rPr>
              <a:t> in </a:t>
            </a:r>
            <a:r>
              <a:rPr sz="1400" b="0" dirty="0" err="1">
                <a:solidFill>
                  <a:srgbClr val="A8B4C0"/>
                </a:solidFill>
                <a:latin typeface="Aptos"/>
              </a:rPr>
              <a:t>sofa_env</a:t>
            </a:r>
            <a:r>
              <a:rPr sz="1400" b="0" dirty="0">
                <a:solidFill>
                  <a:srgbClr val="A8B4C0"/>
                </a:solidFill>
                <a:latin typeface="Aptos"/>
              </a:rPr>
              <a:t>
</a:t>
            </a:r>
            <a:r>
              <a:rPr sz="1400" dirty="0">
                <a:solidFill>
                  <a:srgbClr val="A8B4C0"/>
                </a:solidFill>
                <a:latin typeface="Aptos"/>
              </a:rPr>
              <a:t>Method</a:t>
            </a:r>
            <a:r>
              <a:rPr sz="1400" b="0" dirty="0">
                <a:solidFill>
                  <a:srgbClr val="A8B4C0"/>
                </a:solidFill>
                <a:latin typeface="Aptos"/>
              </a:rPr>
              <a:t>: Behavior Cloning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018447"/>
            <a:ext cx="10332720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Aptos"/>
              </a:rPr>
              <a:t>Goal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Aptos"/>
              </a:rPr>
              <a:t>: </a:t>
            </a:r>
          </a:p>
          <a:p>
            <a:r>
              <a:rPr lang="en-US" sz="2000" dirty="0">
                <a:solidFill>
                  <a:srgbClr val="F4F7FA"/>
                </a:solidFill>
                <a:latin typeface="Aptos"/>
              </a:rPr>
              <a:t>measure visual understanding on real surgery data, then learn closed-loop control from pixels without goal XYZ at test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914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58A07"/>
                </a:solidFill>
                <a:latin typeface="Apto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82880"/>
            <a:ext cx="10332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1">
                <a:solidFill>
                  <a:srgbClr val="F4F7FA"/>
                </a:solidFill>
                <a:latin typeface="Aptos"/>
              </a:rPr>
              <a:t>End-to-End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713232"/>
            <a:ext cx="10332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A8B4C0"/>
                </a:solidFill>
                <a:latin typeface="Aptos"/>
              </a:rPr>
              <a:t>Execution order used in this project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647969B-B9C0-2154-DC1F-65960A9FE917}"/>
              </a:ext>
            </a:extLst>
          </p:cNvPr>
          <p:cNvGrpSpPr/>
          <p:nvPr/>
        </p:nvGrpSpPr>
        <p:grpSpPr>
          <a:xfrm>
            <a:off x="670255" y="1556350"/>
            <a:ext cx="3353105" cy="791787"/>
            <a:chOff x="594360" y="1234440"/>
            <a:chExt cx="3353105" cy="791787"/>
          </a:xfrm>
        </p:grpSpPr>
        <p:sp>
          <p:nvSpPr>
            <p:cNvPr id="6" name="Rounded Rectangle 5"/>
            <p:cNvSpPr/>
            <p:nvPr/>
          </p:nvSpPr>
          <p:spPr>
            <a:xfrm>
              <a:off x="594360" y="1234440"/>
              <a:ext cx="3353105" cy="791787"/>
            </a:xfrm>
            <a:prstGeom prst="roundRect">
              <a:avLst/>
            </a:prstGeom>
            <a:solidFill>
              <a:srgbClr val="141E2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4AA0710D-AFF5-DC0B-03AC-C5D593FA570C}"/>
                </a:ext>
              </a:extLst>
            </p:cNvPr>
            <p:cNvGrpSpPr/>
            <p:nvPr/>
          </p:nvGrpSpPr>
          <p:grpSpPr>
            <a:xfrm>
              <a:off x="749808" y="1362456"/>
              <a:ext cx="3136392" cy="502920"/>
              <a:chOff x="749808" y="1362456"/>
              <a:chExt cx="3136392" cy="502920"/>
            </a:xfrm>
          </p:grpSpPr>
          <p:sp>
            <p:nvSpPr>
              <p:cNvPr id="7" name="Rounded Rectangle 6"/>
              <p:cNvSpPr/>
              <p:nvPr/>
            </p:nvSpPr>
            <p:spPr>
              <a:xfrm>
                <a:off x="758952" y="1399032"/>
                <a:ext cx="457200" cy="457200"/>
              </a:xfrm>
              <a:prstGeom prst="roundRect">
                <a:avLst/>
              </a:prstGeom>
              <a:solidFill>
                <a:srgbClr val="2EC4B6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749808" y="1478816"/>
                <a:ext cx="457200" cy="338554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/>
                <a:r>
                  <a:rPr sz="1600" b="1" dirty="0">
                    <a:solidFill>
                      <a:srgbClr val="0B121A"/>
                    </a:solidFill>
                    <a:latin typeface="Aptos"/>
                  </a:rPr>
                  <a:t>1</a:t>
                </a: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1344168" y="1362456"/>
                <a:ext cx="2542032" cy="5029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/>
                <a:r>
                  <a:rPr sz="1800" b="1" dirty="0">
                    <a:solidFill>
                      <a:srgbClr val="2EC4B6"/>
                    </a:solidFill>
                    <a:latin typeface="Aptos"/>
                  </a:rPr>
                  <a:t>Prepare data</a:t>
                </a:r>
              </a:p>
            </p:txBody>
          </p:sp>
        </p:grpSp>
      </p:grpSp>
      <p:sp>
        <p:nvSpPr>
          <p:cNvPr id="11" name="TextBox 10"/>
          <p:cNvSpPr txBox="1"/>
          <p:nvPr/>
        </p:nvSpPr>
        <p:spPr>
          <a:xfrm>
            <a:off x="4032504" y="1691640"/>
            <a:ext cx="365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A8B4C0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8264" y="1556350"/>
            <a:ext cx="3310128" cy="764356"/>
          </a:xfrm>
          <a:prstGeom prst="roundRect">
            <a:avLst/>
          </a:prstGeom>
          <a:solidFill>
            <a:srgbClr val="14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640996" y="1682080"/>
            <a:ext cx="457200" cy="457200"/>
          </a:xfrm>
          <a:prstGeom prst="round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46815" y="169164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dirty="0">
                <a:solidFill>
                  <a:srgbClr val="0B121A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77998" y="1684366"/>
            <a:ext cx="254203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 dirty="0">
                <a:solidFill>
                  <a:srgbClr val="2EC4B6"/>
                </a:solidFill>
                <a:latin typeface="Aptos"/>
              </a:rPr>
              <a:t>Train vision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72984" y="1691640"/>
            <a:ext cx="365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A8B4C0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5320" y="1528501"/>
            <a:ext cx="3429000" cy="819635"/>
          </a:xfrm>
          <a:prstGeom prst="roundRect">
            <a:avLst/>
          </a:prstGeom>
          <a:solidFill>
            <a:srgbClr val="14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464850" y="1666078"/>
            <a:ext cx="457200" cy="457200"/>
          </a:xfrm>
          <a:prstGeom prst="round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8476488" y="1660882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dirty="0">
                <a:solidFill>
                  <a:srgbClr val="0B121A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61704" y="1695381"/>
            <a:ext cx="254203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 dirty="0">
                <a:solidFill>
                  <a:srgbClr val="2EC4B6"/>
                </a:solidFill>
                <a:latin typeface="Aptos"/>
              </a:rPr>
              <a:t>Evaluate vision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3474720"/>
            <a:ext cx="3429000" cy="914400"/>
          </a:xfrm>
          <a:prstGeom prst="roundRect">
            <a:avLst/>
          </a:prstGeom>
          <a:solidFill>
            <a:srgbClr val="14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58952" y="3639312"/>
            <a:ext cx="457200" cy="457200"/>
          </a:xfrm>
          <a:prstGeom prst="roundRect">
            <a:avLst/>
          </a:prstGeom>
          <a:solidFill>
            <a:srgbClr val="F58A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58952" y="3639312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B121A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44168" y="3602736"/>
            <a:ext cx="254203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58A07"/>
                </a:solidFill>
                <a:latin typeface="Aptos"/>
              </a:rPr>
              <a:t>Build simulator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50792" y="3717036"/>
            <a:ext cx="365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dirty="0">
                <a:solidFill>
                  <a:srgbClr val="A8B4C0"/>
                </a:solidFill>
                <a:latin typeface="Aptos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34840" y="3474720"/>
            <a:ext cx="3429000" cy="914400"/>
          </a:xfrm>
          <a:prstGeom prst="roundRect">
            <a:avLst/>
          </a:prstGeom>
          <a:solidFill>
            <a:srgbClr val="14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4599432" y="3639312"/>
            <a:ext cx="457200" cy="457200"/>
          </a:xfrm>
          <a:prstGeom prst="roundRect">
            <a:avLst/>
          </a:prstGeom>
          <a:solidFill>
            <a:srgbClr val="F58A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99432" y="3639312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B121A"/>
                </a:solidFill>
                <a:latin typeface="Aptos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84648" y="3602736"/>
            <a:ext cx="254203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58A07"/>
                </a:solidFill>
                <a:latin typeface="Aptos"/>
              </a:rPr>
              <a:t>Collect demos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54696" y="3703320"/>
            <a:ext cx="365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A8B4C0"/>
                </a:solidFill>
                <a:latin typeface="Aptos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75320" y="3474720"/>
            <a:ext cx="3429000" cy="914400"/>
          </a:xfrm>
          <a:prstGeom prst="roundRect">
            <a:avLst/>
          </a:prstGeom>
          <a:solidFill>
            <a:srgbClr val="14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8439912" y="3639312"/>
            <a:ext cx="457200" cy="457200"/>
          </a:xfrm>
          <a:prstGeom prst="roundRect">
            <a:avLst/>
          </a:prstGeom>
          <a:solidFill>
            <a:srgbClr val="F58A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439912" y="3639312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B121A"/>
                </a:solidFill>
                <a:latin typeface="Aptos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25128" y="3602736"/>
            <a:ext cx="254203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58A07"/>
                </a:solidFill>
                <a:latin typeface="Aptos"/>
              </a:rPr>
              <a:t>Train + test BC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914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58A07"/>
                </a:solidFill>
                <a:latin typeface="Apto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82880"/>
            <a:ext cx="10332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1" dirty="0">
                <a:solidFill>
                  <a:srgbClr val="F4F7FA"/>
                </a:solidFill>
                <a:latin typeface="Aptos"/>
              </a:rPr>
              <a:t>Segmentation 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4937760" cy="4962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Aft>
                <a:spcPts val="800"/>
              </a:spcAft>
              <a:defRPr sz="1800">
                <a:solidFill>
                  <a:srgbClr val="F4F7FA"/>
                </a:solidFill>
                <a:latin typeface="Aptos"/>
              </a:defRPr>
            </a:pPr>
            <a:r>
              <a:rPr dirty="0"/>
              <a:t>•  6,240 training frames; 1,840 validation frames</a:t>
            </a:r>
          </a:p>
          <a:p>
            <a:pPr>
              <a:lnSpc>
                <a:spcPct val="200000"/>
              </a:lnSpc>
              <a:spcAft>
                <a:spcPts val="800"/>
              </a:spcAft>
              <a:defRPr sz="1800">
                <a:solidFill>
                  <a:srgbClr val="F4F7FA"/>
                </a:solidFill>
                <a:latin typeface="Aptos"/>
              </a:defRPr>
            </a:pPr>
            <a:r>
              <a:rPr dirty="0"/>
              <a:t>•  Video-level split: no frames from one video appear in both sets</a:t>
            </a:r>
          </a:p>
          <a:p>
            <a:pPr>
              <a:lnSpc>
                <a:spcPct val="200000"/>
              </a:lnSpc>
              <a:spcAft>
                <a:spcPts val="800"/>
              </a:spcAft>
              <a:defRPr sz="1800">
                <a:solidFill>
                  <a:srgbClr val="F4F7FA"/>
                </a:solidFill>
                <a:latin typeface="Aptos"/>
              </a:defRPr>
            </a:pPr>
            <a:r>
              <a:rPr dirty="0"/>
              <a:t>•  DeepLabV3+ with ResNet34 encoder</a:t>
            </a:r>
          </a:p>
          <a:p>
            <a:pPr>
              <a:lnSpc>
                <a:spcPct val="200000"/>
              </a:lnSpc>
              <a:spcAft>
                <a:spcPts val="800"/>
              </a:spcAft>
              <a:defRPr sz="1800">
                <a:solidFill>
                  <a:srgbClr val="F4F7FA"/>
                </a:solidFill>
                <a:latin typeface="Aptos"/>
              </a:defRPr>
            </a:pPr>
            <a:r>
              <a:rPr dirty="0"/>
              <a:t>•  Combined cross-entropy and Dice loss</a:t>
            </a:r>
          </a:p>
          <a:p>
            <a:pPr>
              <a:lnSpc>
                <a:spcPct val="200000"/>
              </a:lnSpc>
              <a:spcAft>
                <a:spcPts val="800"/>
              </a:spcAft>
              <a:defRPr sz="1800">
                <a:solidFill>
                  <a:srgbClr val="F4F7FA"/>
                </a:solidFill>
                <a:latin typeface="Aptos"/>
              </a:defRPr>
            </a:pPr>
            <a:r>
              <a:rPr dirty="0"/>
              <a:t>•  Class weighting and surgical augmentations</a:t>
            </a:r>
          </a:p>
          <a:p>
            <a:pPr>
              <a:lnSpc>
                <a:spcPct val="200000"/>
              </a:lnSpc>
              <a:spcAft>
                <a:spcPts val="800"/>
              </a:spcAft>
              <a:defRPr sz="1800">
                <a:solidFill>
                  <a:srgbClr val="F4F7FA"/>
                </a:solidFill>
                <a:latin typeface="Aptos"/>
              </a:defRPr>
            </a:pPr>
            <a:r>
              <a:rPr dirty="0"/>
              <a:t>•  Final run: run3_ft, warm-started and early-stopped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1417320"/>
            <a:ext cx="2423160" cy="1143000"/>
          </a:xfrm>
          <a:prstGeom prst="roundRect">
            <a:avLst/>
          </a:prstGeom>
          <a:solidFill>
            <a:srgbClr val="14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72200" y="1527048"/>
            <a:ext cx="2057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A8B4C0"/>
                </a:solidFill>
                <a:latin typeface="Aptos"/>
              </a:rPr>
              <a:t>mIoU (present classes)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810512"/>
            <a:ext cx="20574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2EC4B6"/>
                </a:solidFill>
                <a:latin typeface="Aptos"/>
              </a:rPr>
              <a:t>0.526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41080" y="1417320"/>
            <a:ext cx="2423160" cy="1143000"/>
          </a:xfrm>
          <a:prstGeom prst="roundRect">
            <a:avLst/>
          </a:prstGeom>
          <a:solidFill>
            <a:srgbClr val="14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23960" y="1527048"/>
            <a:ext cx="2057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A8B4C0"/>
                </a:solidFill>
                <a:latin typeface="Aptos"/>
              </a:rPr>
              <a:t>Dice (present classes)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1810512"/>
            <a:ext cx="20574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2EC4B6"/>
                </a:solidFill>
                <a:latin typeface="Aptos"/>
              </a:rPr>
              <a:t>0.611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2880360"/>
            <a:ext cx="2423160" cy="1143000"/>
          </a:xfrm>
          <a:prstGeom prst="roundRect">
            <a:avLst/>
          </a:prstGeom>
          <a:solidFill>
            <a:srgbClr val="14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72200" y="2990088"/>
            <a:ext cx="2057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A8B4C0"/>
                </a:solidFill>
                <a:latin typeface="Aptos"/>
              </a:rPr>
              <a:t>Output classes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273552"/>
            <a:ext cx="20574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2EC4B6"/>
                </a:solidFill>
                <a:latin typeface="Aptos"/>
              </a:rPr>
              <a:t>13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41080" y="2880360"/>
            <a:ext cx="2423160" cy="1143000"/>
          </a:xfrm>
          <a:prstGeom prst="roundRect">
            <a:avLst/>
          </a:prstGeom>
          <a:solidFill>
            <a:srgbClr val="14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23960" y="2990088"/>
            <a:ext cx="2057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A8B4C0"/>
                </a:solidFill>
                <a:latin typeface="Aptos"/>
              </a:rPr>
              <a:t>Validation videos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3273552"/>
            <a:ext cx="20574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2EC4B6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3730752"/>
            <a:ext cx="2057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A8B4C0"/>
                </a:solidFill>
                <a:latin typeface="Aptos"/>
              </a:rPr>
              <a:t>video01 / video09 / video17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19" y="4443984"/>
            <a:ext cx="6064135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dirty="0">
                <a:solidFill>
                  <a:srgbClr val="2EC4B6"/>
                </a:solidFill>
                <a:latin typeface="Aptos"/>
              </a:rPr>
              <a:t>Checkpoint selected only by validation performance.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914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58A07"/>
                </a:solidFill>
                <a:latin typeface="Apto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82880"/>
            <a:ext cx="10332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1" dirty="0">
                <a:solidFill>
                  <a:srgbClr val="F4F7FA"/>
                </a:solidFill>
                <a:latin typeface="Aptos"/>
              </a:rPr>
              <a:t>Segmentation Outputs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713232"/>
            <a:ext cx="10332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A8B4C0"/>
                </a:solidFill>
                <a:latin typeface="Aptos"/>
              </a:rPr>
              <a:t>Each group: RGB image → ground truth → prediction → error map</a:t>
            </a:r>
          </a:p>
        </p:txBody>
      </p:sp>
      <p:pic>
        <p:nvPicPr>
          <p:cNvPr id="6" name="Picture 5" descr="real_panels_cont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73601"/>
            <a:ext cx="9388738" cy="433739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6236208"/>
            <a:ext cx="10789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A8B4C0"/>
                </a:solidFill>
                <a:latin typeface="Aptos"/>
              </a:rPr>
              <a:t>Strong: background, liver, abdominal wall, L-hook, grasper  |  Weak: blood, cystic duct, liver ligament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BD9F302-FFED-D9B5-97C6-6CB10855B35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54" t="9333" r="59998" b="2666"/>
          <a:stretch>
            <a:fillRect/>
          </a:stretch>
        </p:blipFill>
        <p:spPr>
          <a:xfrm>
            <a:off x="9983098" y="1338024"/>
            <a:ext cx="1695997" cy="424583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914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58A07"/>
                </a:solidFill>
                <a:latin typeface="Apto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82880"/>
            <a:ext cx="10332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1">
                <a:solidFill>
                  <a:srgbClr val="F4F7FA"/>
                </a:solidFill>
                <a:latin typeface="Aptos"/>
              </a:rPr>
              <a:t>Segmentation Result by Class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713232"/>
            <a:ext cx="10332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A8B4C0"/>
                </a:solidFill>
                <a:latin typeface="Aptos"/>
              </a:rPr>
              <a:t>Performance is strongest on frequent structures and instruments</a:t>
            </a:r>
          </a:p>
        </p:txBody>
      </p:sp>
      <p:pic>
        <p:nvPicPr>
          <p:cNvPr id="6" name="Picture 5" descr="seg_eval_run3_ft_iou_so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97280"/>
            <a:ext cx="10972800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914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58A07"/>
                </a:solidFill>
                <a:latin typeface="Aptos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82880"/>
            <a:ext cx="10332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1">
                <a:solidFill>
                  <a:srgbClr val="F4F7FA"/>
                </a:solidFill>
                <a:latin typeface="Aptos"/>
              </a:rPr>
              <a:t>Learned Control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713232"/>
            <a:ext cx="10332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A8B4C0"/>
                </a:solidFill>
                <a:latin typeface="Aptos"/>
              </a:rPr>
              <a:t>Behavior Cloning closes the gap left by direct vision-to-control heuristics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1898627"/>
            <a:ext cx="2679192" cy="1126721"/>
          </a:xfrm>
          <a:prstGeom prst="roundRect">
            <a:avLst/>
          </a:prstGeom>
          <a:solidFill>
            <a:srgbClr val="14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505829" y="2165881"/>
            <a:ext cx="457200" cy="457200"/>
          </a:xfrm>
          <a:prstGeom prst="roundRect">
            <a:avLst/>
          </a:prstGeom>
          <a:solidFill>
            <a:srgbClr val="F58A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498057" y="2165881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dirty="0">
                <a:solidFill>
                  <a:srgbClr val="0B121A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2743" y="2109138"/>
            <a:ext cx="2077073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 dirty="0">
                <a:solidFill>
                  <a:srgbClr val="F58A07"/>
                </a:solidFill>
                <a:latin typeface="Aptos"/>
              </a:rPr>
              <a:t>Oracle demonstrations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27248" y="2176272"/>
            <a:ext cx="320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A8B4C0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1898626"/>
            <a:ext cx="2514600" cy="1126721"/>
          </a:xfrm>
          <a:prstGeom prst="roundRect">
            <a:avLst/>
          </a:prstGeom>
          <a:solidFill>
            <a:srgbClr val="14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576967" y="2136571"/>
            <a:ext cx="457200" cy="457200"/>
          </a:xfrm>
          <a:prstGeom prst="roundRect">
            <a:avLst/>
          </a:prstGeom>
          <a:solidFill>
            <a:srgbClr val="F58A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9AA8D5C-DF82-A660-307A-054C74E4CCA2}"/>
              </a:ext>
            </a:extLst>
          </p:cNvPr>
          <p:cNvGrpSpPr/>
          <p:nvPr/>
        </p:nvGrpSpPr>
        <p:grpSpPr>
          <a:xfrm>
            <a:off x="3576967" y="2120161"/>
            <a:ext cx="2212848" cy="502920"/>
            <a:chOff x="3639312" y="1545336"/>
            <a:chExt cx="2212848" cy="502920"/>
          </a:xfrm>
        </p:grpSpPr>
        <p:sp>
          <p:nvSpPr>
            <p:cNvPr id="14" name="TextBox 13"/>
            <p:cNvSpPr txBox="1">
              <a:spLocks/>
            </p:cNvSpPr>
            <p:nvPr/>
          </p:nvSpPr>
          <p:spPr>
            <a:xfrm>
              <a:off x="3639312" y="1568196"/>
              <a:ext cx="457200" cy="45720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600" b="1" dirty="0">
                  <a:solidFill>
                    <a:srgbClr val="0B121A"/>
                  </a:solidFill>
                  <a:latin typeface="Aptos"/>
                </a:rPr>
                <a:t>2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224528" y="1545336"/>
              <a:ext cx="1627632" cy="5029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800" b="1" dirty="0">
                  <a:solidFill>
                    <a:srgbClr val="F58A07"/>
                  </a:solidFill>
                  <a:latin typeface="Aptos"/>
                </a:rPr>
                <a:t>Supervised dataset</a:t>
              </a:r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6007608" y="2176272"/>
            <a:ext cx="320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dirty="0">
                <a:solidFill>
                  <a:srgbClr val="A8B4C0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1898626"/>
            <a:ext cx="2514600" cy="1126721"/>
          </a:xfrm>
          <a:prstGeom prst="roundRect">
            <a:avLst/>
          </a:prstGeom>
          <a:solidFill>
            <a:srgbClr val="14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464808" y="2122724"/>
            <a:ext cx="457200" cy="457200"/>
          </a:xfrm>
          <a:prstGeom prst="roundRect">
            <a:avLst/>
          </a:prstGeom>
          <a:solidFill>
            <a:srgbClr val="F58A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46520" y="2136571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B121A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91459" y="2183694"/>
            <a:ext cx="2013758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 dirty="0">
                <a:solidFill>
                  <a:srgbClr val="F58A07"/>
                </a:solidFill>
                <a:latin typeface="Aptos"/>
              </a:rPr>
              <a:t>StrongRGBPolicy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87968" y="2176272"/>
            <a:ext cx="320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A8B4C0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98626"/>
            <a:ext cx="2514600" cy="1126721"/>
          </a:xfrm>
          <a:prstGeom prst="roundRect">
            <a:avLst/>
          </a:prstGeom>
          <a:solidFill>
            <a:srgbClr val="14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400032" y="2173563"/>
            <a:ext cx="457200" cy="457200"/>
          </a:xfrm>
          <a:prstGeom prst="roundRect">
            <a:avLst/>
          </a:prstGeom>
          <a:solidFill>
            <a:srgbClr val="F58A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400032" y="2176272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dirty="0">
                <a:solidFill>
                  <a:srgbClr val="0B121A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95886" y="2180843"/>
            <a:ext cx="162763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 dirty="0">
                <a:solidFill>
                  <a:srgbClr val="F58A07"/>
                </a:solidFill>
                <a:latin typeface="Aptos"/>
              </a:rPr>
              <a:t>Closed-loop test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70265" y="4343400"/>
            <a:ext cx="10051470" cy="1051560"/>
          </a:xfrm>
          <a:prstGeom prst="roundRect">
            <a:avLst/>
          </a:prstGeom>
          <a:solidFill>
            <a:srgbClr val="14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315074" y="4661431"/>
            <a:ext cx="9705108" cy="4154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100" b="1" dirty="0">
                <a:solidFill>
                  <a:srgbClr val="2EC4B6"/>
                </a:solidFill>
                <a:latin typeface="Aptos"/>
              </a:rPr>
              <a:t>Test-time input: RGB only</a:t>
            </a:r>
            <a:r>
              <a:rPr lang="en-CA" sz="2100" b="1" dirty="0">
                <a:solidFill>
                  <a:srgbClr val="2EC4B6"/>
                </a:solidFill>
                <a:latin typeface="Aptos"/>
              </a:rPr>
              <a:t>, </a:t>
            </a:r>
            <a:r>
              <a:rPr sz="2100" b="1" dirty="0">
                <a:solidFill>
                  <a:srgbClr val="2EC4B6"/>
                </a:solidFill>
                <a:latin typeface="Aptos"/>
              </a:rPr>
              <a:t>no grasping position, no end position, no goal XYZ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914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58A07"/>
                </a:solidFill>
                <a:latin typeface="Aptos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82880"/>
            <a:ext cx="10332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1">
                <a:solidFill>
                  <a:srgbClr val="F4F7FA"/>
                </a:solidFill>
                <a:latin typeface="Aptos"/>
              </a:rPr>
              <a:t>Control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713232"/>
            <a:ext cx="10332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A8B4C0"/>
                </a:solidFill>
                <a:latin typeface="Aptos"/>
              </a:rPr>
              <a:t>Pooled success rates under the locked evaluation protocol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3383280" cy="1600200"/>
          </a:xfrm>
          <a:prstGeom prst="roundRect">
            <a:avLst/>
          </a:prstGeom>
          <a:solidFill>
            <a:srgbClr val="14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444752"/>
            <a:ext cx="2926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2EC4B6"/>
                </a:solidFill>
                <a:latin typeface="Aptos"/>
              </a:rPr>
              <a:t>Oracle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783080"/>
            <a:ext cx="29260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100" b="1">
                <a:solidFill>
                  <a:srgbClr val="2EC4B6"/>
                </a:solidFill>
                <a:latin typeface="Aptos"/>
              </a:rPr>
              <a:t>1.000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23160"/>
            <a:ext cx="29260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8B4C0"/>
                </a:solidFill>
                <a:latin typeface="Aptos"/>
              </a:rPr>
              <a:t>Full-state ceiling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280160"/>
            <a:ext cx="3383280" cy="1600200"/>
          </a:xfrm>
          <a:prstGeom prst="roundRect">
            <a:avLst/>
          </a:prstGeom>
          <a:solidFill>
            <a:srgbClr val="14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0" y="1444752"/>
            <a:ext cx="2926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2EC4B6"/>
                </a:solidFill>
                <a:latin typeface="Aptos"/>
              </a:rPr>
              <a:t>Heuristic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783080"/>
            <a:ext cx="29260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100" b="1">
                <a:solidFill>
                  <a:srgbClr val="2EC4B6"/>
                </a:solidFill>
                <a:latin typeface="Aptos"/>
              </a:rPr>
              <a:t>1.000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423160"/>
            <a:ext cx="29260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8B4C0"/>
                </a:solidFill>
                <a:latin typeface="Aptos"/>
              </a:rPr>
              <a:t>GT target positions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280160"/>
            <a:ext cx="3383280" cy="1600200"/>
          </a:xfrm>
          <a:prstGeom prst="roundRect">
            <a:avLst/>
          </a:prstGeom>
          <a:solidFill>
            <a:srgbClr val="14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49640" y="1444752"/>
            <a:ext cx="2926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58A07"/>
                </a:solidFill>
                <a:latin typeface="Aptos"/>
              </a:rPr>
              <a:t>bc_rgb_v2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1783080"/>
            <a:ext cx="29260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100" b="1">
                <a:solidFill>
                  <a:srgbClr val="F58A07"/>
                </a:solidFill>
                <a:latin typeface="Aptos"/>
              </a:rPr>
              <a:t>1.000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2423160"/>
            <a:ext cx="29260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8B4C0"/>
                </a:solidFill>
                <a:latin typeface="Aptos"/>
              </a:rPr>
              <a:t>RGB only — learned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337560"/>
            <a:ext cx="3383280" cy="1600200"/>
          </a:xfrm>
          <a:prstGeom prst="roundRect">
            <a:avLst/>
          </a:prstGeom>
          <a:solidFill>
            <a:srgbClr val="14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3502152"/>
            <a:ext cx="2926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A8B4C0"/>
                </a:solidFill>
                <a:latin typeface="Aptos"/>
              </a:rPr>
              <a:t>Random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840480"/>
            <a:ext cx="29260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100" b="1">
                <a:solidFill>
                  <a:srgbClr val="A8B4C0"/>
                </a:solidFill>
                <a:latin typeface="Aptos"/>
              </a:rPr>
              <a:t>0.000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480560"/>
            <a:ext cx="29260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8B4C0"/>
                </a:solidFill>
                <a:latin typeface="Aptos"/>
              </a:rPr>
              <a:t>Failure floor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26280" y="3337560"/>
            <a:ext cx="3383280" cy="1600200"/>
          </a:xfrm>
          <a:prstGeom prst="roundRect">
            <a:avLst/>
          </a:prstGeom>
          <a:solidFill>
            <a:srgbClr val="14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54880" y="3502152"/>
            <a:ext cx="2926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A8B4C0"/>
                </a:solidFill>
                <a:latin typeface="Aptos"/>
              </a:rPr>
              <a:t>Model vision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3840480"/>
            <a:ext cx="29260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100" b="1">
                <a:solidFill>
                  <a:srgbClr val="A8B4C0"/>
                </a:solidFill>
                <a:latin typeface="Aptos"/>
              </a:rPr>
              <a:t>0.000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4480560"/>
            <a:ext cx="29260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8B4C0"/>
                </a:solidFill>
                <a:latin typeface="Aptos"/>
              </a:rPr>
              <a:t>Direct bridge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21040" y="3337560"/>
            <a:ext cx="3383280" cy="1600200"/>
          </a:xfrm>
          <a:prstGeom prst="roundRect">
            <a:avLst/>
          </a:prstGeom>
          <a:solidFill>
            <a:srgbClr val="14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49640" y="3502152"/>
            <a:ext cx="2926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A8B4C0"/>
                </a:solidFill>
                <a:latin typeface="Aptos"/>
              </a:rPr>
              <a:t>Synthetic vision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3840480"/>
            <a:ext cx="29260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100" b="1">
                <a:solidFill>
                  <a:srgbClr val="A8B4C0"/>
                </a:solidFill>
                <a:latin typeface="Aptos"/>
              </a:rPr>
              <a:t>0.000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9640" y="4480560"/>
            <a:ext cx="29260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8B4C0"/>
                </a:solidFill>
                <a:latin typeface="Aptos"/>
              </a:rPr>
              <a:t>HSV bridge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69280"/>
            <a:ext cx="10332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2EC4B6"/>
                </a:solidFill>
                <a:latin typeface="Aptos"/>
              </a:rPr>
              <a:t>bc_rgb_v2: 5 seeds × 40 episodes  |  Wilson 95% CI [0.981, 1.000]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914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58A07"/>
                </a:solidFill>
                <a:latin typeface="Aptos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10755"/>
            <a:ext cx="10332720" cy="53860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1" dirty="0">
                <a:solidFill>
                  <a:srgbClr val="F4F7FA"/>
                </a:solidFill>
                <a:latin typeface="Aptos"/>
              </a:rPr>
              <a:t>Demo Playback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713232"/>
            <a:ext cx="10332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A8B4C0"/>
                </a:solidFill>
                <a:latin typeface="Aptos"/>
              </a:rPr>
              <a:t>Use the main reel, or play these clips in order</a:t>
            </a:r>
          </a:p>
        </p:txBody>
      </p:sp>
      <p:pic>
        <p:nvPicPr>
          <p:cNvPr id="32" name="DEFENSE_DEMO_REEL_V2">
            <a:hlinkClick r:id="" action="ppaction://media"/>
            <a:extLst>
              <a:ext uri="{FF2B5EF4-FFF2-40B4-BE49-F238E27FC236}">
                <a16:creationId xmlns:a16="http://schemas.microsoft.com/office/drawing/2014/main" id="{027D3317-64C1-91A4-AA28-7C513D9B039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219047" y="1160845"/>
            <a:ext cx="9753600" cy="5486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800" fill="hold"/>
                                        <p:tgtEl>
                                          <p:spTgt spid="3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914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58A07"/>
                </a:solidFill>
                <a:latin typeface="Aptos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82880"/>
            <a:ext cx="10332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1">
                <a:solidFill>
                  <a:srgbClr val="F4F7FA"/>
                </a:solidFill>
                <a:latin typeface="Aptos"/>
              </a:rPr>
              <a:t>Conclusions and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3474720" cy="2194560"/>
          </a:xfrm>
          <a:prstGeom prst="roundRect">
            <a:avLst/>
          </a:prstGeom>
          <a:solidFill>
            <a:srgbClr val="14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50392" y="1399032"/>
            <a:ext cx="457200" cy="457200"/>
          </a:xfrm>
          <a:prstGeom prst="round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399032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B121A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35608" y="1362456"/>
            <a:ext cx="258775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2EC4B6"/>
                </a:solidFill>
                <a:latin typeface="Aptos"/>
              </a:rPr>
              <a:t>Real-image perception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30175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8B4C0"/>
                </a:solidFill>
                <a:latin typeface="Aptos"/>
              </a:rPr>
              <a:t>DeepLabV3+ reaches 0.526 mIoU and 0.611 Dice on a video-level split.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234440"/>
            <a:ext cx="3474720" cy="2194560"/>
          </a:xfrm>
          <a:prstGeom prst="roundRect">
            <a:avLst/>
          </a:prstGeom>
          <a:solidFill>
            <a:srgbClr val="14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535424" y="1399032"/>
            <a:ext cx="457200" cy="457200"/>
          </a:xfrm>
          <a:prstGeom prst="roundRect">
            <a:avLst/>
          </a:prstGeom>
          <a:solidFill>
            <a:srgbClr val="F58A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35424" y="1399032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B121A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1362456"/>
            <a:ext cx="258775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58A07"/>
                </a:solidFill>
                <a:latin typeface="Aptos"/>
              </a:rPr>
              <a:t>Pixel-only 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1920240"/>
            <a:ext cx="30175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8B4C0"/>
                </a:solidFill>
                <a:latin typeface="Aptos"/>
              </a:rPr>
              <a:t>bc_rgb_v2 reaches 1.000 success using RGB only at test time.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1234440"/>
            <a:ext cx="3474720" cy="2194560"/>
          </a:xfrm>
          <a:prstGeom prst="roundRect">
            <a:avLst/>
          </a:prstGeom>
          <a:solidFill>
            <a:srgbClr val="14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220456" y="1399032"/>
            <a:ext cx="457200" cy="457200"/>
          </a:xfrm>
          <a:prstGeom prst="round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0456" y="1399032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B121A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05672" y="1362456"/>
            <a:ext cx="258775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2EC4B6"/>
                </a:solidFill>
                <a:latin typeface="Aptos"/>
              </a:rPr>
              <a:t>Honest scope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4" y="1920240"/>
            <a:ext cx="30175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8B4C0"/>
                </a:solidFill>
                <a:latin typeface="Aptos"/>
              </a:rPr>
              <a:t>Vision bridge remains unsuccessful. Evaluation is in sofa_env, not on a physical robot.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2519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dirty="0">
                <a:solidFill>
                  <a:srgbClr val="2EC4B6"/>
                </a:solidFill>
                <a:latin typeface="Aptos"/>
              </a:rPr>
              <a:t>Two trained deliverables: semantic segmentation and learned robotic control.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504</Words>
  <Application>Microsoft Office PowerPoint</Application>
  <PresentationFormat>Widescreen</PresentationFormat>
  <Paragraphs>113</Paragraphs>
  <Slides>10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Niki Mahdian</cp:lastModifiedBy>
  <cp:revision>5</cp:revision>
  <dcterms:created xsi:type="dcterms:W3CDTF">2013-01-27T09:14:16Z</dcterms:created>
  <dcterms:modified xsi:type="dcterms:W3CDTF">2026-08-07T06:15:21Z</dcterms:modified>
  <cp:category/>
</cp:coreProperties>
</file>